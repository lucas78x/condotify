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edc6e91754016" /><Relationship Type="http://schemas.openxmlformats.org/officeDocument/2006/relationships/extended-properties" Target="/docProps/app.xml" Id="Ra5b3f6787cc741a2" /><Relationship Type="http://schemas.openxmlformats.org/officeDocument/2006/relationships/officeDocument" Target="/ppt/presentation.xml" Id="R84c60e369aa9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d3b12d2e934bc6"/>
  </p:sldMasterIdLst>
  <p:notesMasterIdLst>
    <p:notesMasterId xmlns:r="http://schemas.openxmlformats.org/officeDocument/2006/relationships" r:id="R261a0eb7042f4c0e"/>
  </p:notesMasterIdLst>
  <p:sldIdLst>
    <p:sldId xmlns:r="http://schemas.openxmlformats.org/officeDocument/2006/relationships" id="256" r:id="R8eea386f094c4f4c"/>
    <p:sldId xmlns:r="http://schemas.openxmlformats.org/officeDocument/2006/relationships" id="257" r:id="R29aedd77c09e4168"/>
    <p:sldId xmlns:r="http://schemas.openxmlformats.org/officeDocument/2006/relationships" id="258" r:id="R7df54a389f774178"/>
    <p:sldId xmlns:r="http://schemas.openxmlformats.org/officeDocument/2006/relationships" id="259" r:id="R5167bbec7a9a4b9f"/>
    <p:sldId xmlns:r="http://schemas.openxmlformats.org/officeDocument/2006/relationships" id="260" r:id="R2a23502f147848be"/>
    <p:sldId xmlns:r="http://schemas.openxmlformats.org/officeDocument/2006/relationships" id="261" r:id="R944d9c18d062489e"/>
    <p:sldId xmlns:r="http://schemas.openxmlformats.org/officeDocument/2006/relationships" id="262" r:id="R2b06fed6ebdb4c5d"/>
    <p:sldId xmlns:r="http://schemas.openxmlformats.org/officeDocument/2006/relationships" id="263" r:id="R88c67af0ead6441a"/>
    <p:sldId xmlns:r="http://schemas.openxmlformats.org/officeDocument/2006/relationships" id="264" r:id="R118dd87393ae4948"/>
    <p:sldId xmlns:r="http://schemas.openxmlformats.org/officeDocument/2006/relationships" id="265" r:id="R324307cc786c4b79"/>
    <p:sldId xmlns:r="http://schemas.openxmlformats.org/officeDocument/2006/relationships" id="266" r:id="R7624e366866c405c"/>
    <p:sldId xmlns:r="http://schemas.openxmlformats.org/officeDocument/2006/relationships" id="267" r:id="Rd8437affd0a94d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bbb6376cf4849" /><Relationship Type="http://schemas.openxmlformats.org/officeDocument/2006/relationships/slideMaster" Target="/ppt/slideMasters/slideMaster1.xml" Id="R2ad3b12d2e934bc6" /><Relationship Type="http://schemas.openxmlformats.org/officeDocument/2006/relationships/notesMaster" Target="/ppt/notesMasters/notesMaster1.xml" Id="R261a0eb7042f4c0e" /><Relationship Type="http://schemas.openxmlformats.org/officeDocument/2006/relationships/presProps" Target="/ppt/presProps.xml" Id="R8841ad85c8b24645" /><Relationship Type="http://schemas.openxmlformats.org/officeDocument/2006/relationships/tableStyles" Target="/ppt/tableStyles.xml" Id="R8ba4c68f25864587" /><Relationship Type="http://schemas.openxmlformats.org/officeDocument/2006/relationships/slide" Target="/ppt/slides/slide1.xml" Id="R8eea386f094c4f4c" /><Relationship Type="http://schemas.openxmlformats.org/officeDocument/2006/relationships/slide" Target="/ppt/slides/slide2.xml" Id="R29aedd77c09e4168" /><Relationship Type="http://schemas.openxmlformats.org/officeDocument/2006/relationships/slide" Target="/ppt/slides/slide3.xml" Id="R7df54a389f774178" /><Relationship Type="http://schemas.openxmlformats.org/officeDocument/2006/relationships/slide" Target="/ppt/slides/slide4.xml" Id="R5167bbec7a9a4b9f" /><Relationship Type="http://schemas.openxmlformats.org/officeDocument/2006/relationships/slide" Target="/ppt/slides/slide5.xml" Id="R2a23502f147848be" /><Relationship Type="http://schemas.openxmlformats.org/officeDocument/2006/relationships/slide" Target="/ppt/slides/slide6.xml" Id="R944d9c18d062489e" /><Relationship Type="http://schemas.openxmlformats.org/officeDocument/2006/relationships/slide" Target="/ppt/slides/slide7.xml" Id="R2b06fed6ebdb4c5d" /><Relationship Type="http://schemas.openxmlformats.org/officeDocument/2006/relationships/slide" Target="/ppt/slides/slide8.xml" Id="R88c67af0ead6441a" /><Relationship Type="http://schemas.openxmlformats.org/officeDocument/2006/relationships/slide" Target="/ppt/slides/slide9.xml" Id="R118dd87393ae4948" /><Relationship Type="http://schemas.openxmlformats.org/officeDocument/2006/relationships/slide" Target="/ppt/slides/slide10.xml" Id="R324307cc786c4b79" /><Relationship Type="http://schemas.openxmlformats.org/officeDocument/2006/relationships/slide" Target="/ppt/slides/slide11.xml" Id="R7624e366866c405c" /><Relationship Type="http://schemas.openxmlformats.org/officeDocument/2006/relationships/slide" Target="/ppt/slides/slide12.xml" Id="Rd8437affd0a9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6b493c2f76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27a3d05ae34e62" /><Relationship Type="http://schemas.openxmlformats.org/officeDocument/2006/relationships/notesMaster" Target="/ppt/notesMasters/notesMaster1.xml" Id="Rdb30f0888c1543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1d5734bf9e4a4c" /><Relationship Type="http://schemas.openxmlformats.org/officeDocument/2006/relationships/notesMaster" Target="/ppt/notesMasters/notesMaster1.xml" Id="R8d633b0ddf9041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c0e9fc2d424bd2" /><Relationship Type="http://schemas.openxmlformats.org/officeDocument/2006/relationships/notesMaster" Target="/ppt/notesMasters/notesMaster1.xml" Id="Rc924c9940ed445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f44a13f4142ef" /><Relationship Type="http://schemas.openxmlformats.org/officeDocument/2006/relationships/notesMaster" Target="/ppt/notesMasters/notesMaster1.xml" Id="R4ca90425b48140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314e7ecaef4e38" /><Relationship Type="http://schemas.openxmlformats.org/officeDocument/2006/relationships/notesMaster" Target="/ppt/notesMasters/notesMaster1.xml" Id="R87289f51236744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1d68aba9aa40cb" /><Relationship Type="http://schemas.openxmlformats.org/officeDocument/2006/relationships/notesMaster" Target="/ppt/notesMasters/notesMaster1.xml" Id="R30013b9c0c424d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12f8e4fe4e43c3" /><Relationship Type="http://schemas.openxmlformats.org/officeDocument/2006/relationships/notesMaster" Target="/ppt/notesMasters/notesMaster1.xml" Id="R22421ef923c84a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3613b66eee480c" /><Relationship Type="http://schemas.openxmlformats.org/officeDocument/2006/relationships/notesMaster" Target="/ppt/notesMasters/notesMaster1.xml" Id="R3c92b4807c6e44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92dca8dcc84918" /><Relationship Type="http://schemas.openxmlformats.org/officeDocument/2006/relationships/notesMaster" Target="/ppt/notesMasters/notesMaster1.xml" Id="R6d87aa7bc11241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b7f08ff5664a6d" /><Relationship Type="http://schemas.openxmlformats.org/officeDocument/2006/relationships/notesMaster" Target="/ppt/notesMasters/notesMaster1.xml" Id="R40b157286ef04d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e93d9e51954ae9" /><Relationship Type="http://schemas.openxmlformats.org/officeDocument/2006/relationships/notesMaster" Target="/ppt/notesMasters/notesMaster1.xml" Id="R636da03b91eb4a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d1f6350749400a" /><Relationship Type="http://schemas.openxmlformats.org/officeDocument/2006/relationships/notesMaster" Target="/ppt/notesMasters/notesMaster1.xml" Id="R2bca2a632d4844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F&amp;F Access como uma experiência completa de controle de acesso, não apenas como um software isolado.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- OpenAI ImageGen: visual produzido exclusivamente para esta apresentação em 10/08/2026.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dor operacional à proposta central: visibilidade e experiência unificadas.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web, app e hardware são três interfaces sobre o mesmo contexto operacional.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- OpenAI ImageGen: variante transparente para fundo escuro derivada do logotipo fornecido, produzida em 10/08/2026.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como a visão geral reduz o tempo para localizar o que exige atenção.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Captura da plataforma local: http://127.0.0.1:5035/, realizada em 10/08/2026.</a:t>
            </a:r>
          </a:p>
          <a:p xmlns:a="http://schemas.openxmlformats.org/drawingml/2006/main">
            <a:r>
              <a:t>- Referência de moldura de notebook fornecida pelo usuário em 10/08/2026; OpenAI ImageGen foi usado para produzir uma versão neutra, transparente e sem marca-d'água para a apresentação.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cada condomínio possui sua própria estrutura, módulos e permissões, mantendo a operação organizada.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Captura da plataforma local: http://127.0.0.1:5035/licencas/33333333-3333-3333-3333-333333333333, realizada em 10/08/2026.</a:t>
            </a:r>
          </a:p>
          <a:p xmlns:a="http://schemas.openxmlformats.org/drawingml/2006/main">
            <a:r>
              <a:t>- Referência de moldura de notebook fornecida pelo usuário em 10/08/2026; OpenAI ImageGen foi usado para produzir uma versão neutra, transparente e sem marca-d'água para a apresentação.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aplicativo como a camada de conveniência que mantém as mesmas regras de segurança do portal.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Capturas reais do aplicativo .NET MAUI para Windows em 430 x 900, realizadas em 10/08/2026 com a API local http://127.0.0.1:5093. As barras e bordas da janela do Windows foram removidas por recorte.</a:t>
            </a:r>
          </a:p>
          <a:p xmlns:a="http://schemas.openxmlformats.org/drawingml/2006/main">
            <a:r>
              <a:t>- OpenAI ImageGen: moldura neutra de smartphone criada em 10/08/2026 para apresentação das capturas reais; a referência com marca-d'água fornecida pelo usuário não foi incorporada ao arquivo.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 a jornada como uma história: o morador convida, o visitante se cadastra e o acesso desaparece automaticamente quando deixa de ser 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central não apenas exibe dados: ela ajuda a equipe a priorizar e agir.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Captura da plataforma local: http://127.0.0.1:5035/operacoes, realizada em 10/08/2026.</a:t>
            </a:r>
          </a:p>
          <a:p xmlns:a="http://schemas.openxmlformats.org/drawingml/2006/main">
            <a:r>
              <a:t>- Referência de moldura de notebook fornecida pelo usuário em 10/08/2026; OpenAI ImageGen foi usado para produzir uma versão neutra, transparente e sem marca-d'água para a apresentação.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Reforce que a restauração é precedida por uma simulação, permitindo revisão do impacto e dos conflitos.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Captura da plataforma local: http://127.0.0.1:5035/licencas/33333333-3333-3333-3333-333333333333/backups, realizada em 10/08/2026.</a:t>
            </a:r>
          </a:p>
          <a:p xmlns:a="http://schemas.openxmlformats.org/drawingml/2006/main">
            <a:r>
              <a:t>- Referência de moldura de notebook fornecida pelo usuário em 10/08/2026; OpenAI ImageGen foi usado para produzir uma versão neutra, transparente e sem marca-d'água para a apresentação.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página de atualizações como parte da confiança: a equipe entende o que mudou e como usar.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Captura da plataforma local: http://127.0.0.1:5035/atualizacoes, realizada em 10/08/2026.</a:t>
            </a:r>
          </a:p>
          <a:p xmlns:a="http://schemas.openxmlformats.org/drawingml/2006/main">
            <a:r>
              <a:t>- Referência de moldura de notebook fornecida pelo usuário em 10/08/2026; OpenAI ImageGen foi usado para produzir uma versão neutra, transparente e sem marca-d'água para a apresentação.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 o argumento de valor mostrando que a plataforma reduz atrito para cada público, sem nivelar todos pelo mesmo perfil.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Encerre com a síntese da proposta: segurança operacional para a gestão e simplicidade para quem usa todos os dias.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Logotipo F&amp;F Access fornecido pelo usuário: C:/Users/Lucas/Pictures/ChatGPT Image 10 de ago. de 2026, 13_45_37.png.</a:t>
            </a:r>
          </a:p>
          <a:p xmlns:a="http://schemas.openxmlformats.org/drawingml/2006/main">
            <a:r>
              <a:t>- OpenAI ImageGen: visual produzido exclusivamente para esta apresentação em 10/08/2026.</a:t>
            </a:r>
          </a:p>
          <a:p xmlns:a="http://schemas.openxmlformats.org/drawingml/2006/main">
            <a:r>
              <a:t>- Condotify: código-fonte e comportamento local da plataforma, C:/Users/Lucas/source/repos/Condotify, verificado em 10/08/2026.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7e65e0a2045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6244b69ac440e" /><Relationship Type="http://schemas.openxmlformats.org/officeDocument/2006/relationships/slideLayout" Target="/ppt/slideLayouts/slideLayout1.xml" Id="R813fd4326a2f48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fd4326a2f48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69a3fbe54418a" /><Relationship Type="http://schemas.openxmlformats.org/officeDocument/2006/relationships/image" Target="/ppt/media/image.png" Id="Rab82ab06a0d74822" /><Relationship Type="http://schemas.openxmlformats.org/officeDocument/2006/relationships/image" Target="/ppt/media/image2.png" Id="R9fb36af832db494c" /><Relationship Type="http://schemas.openxmlformats.org/officeDocument/2006/relationships/notesSlide" Target="/ppt/notesSlides/notesSlide1.xml" Id="R64a4624b27b441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683f7e826428d" /><Relationship Type="http://schemas.openxmlformats.org/officeDocument/2006/relationships/image" Target="/ppt/media/image3.png" Id="R3da4da067f6a4b57" /><Relationship Type="http://schemas.openxmlformats.org/officeDocument/2006/relationships/notesSlide" Target="/ppt/notesSlides/notesSlide2.xml" Id="R360eb6627235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4f0991ecc40bc" /><Relationship Type="http://schemas.openxmlformats.org/officeDocument/2006/relationships/image" Target="/ppt/media/image4.png" Id="R3e1d4b2c241849c9" /><Relationship Type="http://schemas.openxmlformats.org/officeDocument/2006/relationships/image" Target="/ppt/media/image5.png" Id="Rb4a80359b97249b5" /><Relationship Type="http://schemas.openxmlformats.org/officeDocument/2006/relationships/notesSlide" Target="/ppt/notesSlides/notesSlide3.xml" Id="Rb6c2ca0c1f4347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88d9fc8c64615" /><Relationship Type="http://schemas.openxmlformats.org/officeDocument/2006/relationships/image" Target="/ppt/media/image.jpeg" Id="R0a62d81b78b54a91" /><Relationship Type="http://schemas.openxmlformats.org/officeDocument/2006/relationships/image" Target="/ppt/media/image6.png" Id="Re2b9f76c3f43417a" /><Relationship Type="http://schemas.openxmlformats.org/officeDocument/2006/relationships/image" Target="/ppt/media/image7.png" Id="R66679a0387ce426e" /><Relationship Type="http://schemas.openxmlformats.org/officeDocument/2006/relationships/notesSlide" Target="/ppt/notesSlides/notesSlide4.xml" Id="Rab5bc8e8548348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97ef60166457d" /><Relationship Type="http://schemas.openxmlformats.org/officeDocument/2006/relationships/image" Target="/ppt/media/image2.jpeg" Id="R1c0e4fe97ae8431e" /><Relationship Type="http://schemas.openxmlformats.org/officeDocument/2006/relationships/image" Target="/ppt/media/image8.png" Id="Ra1eaef0bc4194519" /><Relationship Type="http://schemas.openxmlformats.org/officeDocument/2006/relationships/image" Target="/ppt/media/image9.png" Id="R9a6cd641ca434cc7" /><Relationship Type="http://schemas.openxmlformats.org/officeDocument/2006/relationships/notesSlide" Target="/ppt/notesSlides/notesSlide5.xml" Id="Rfd03836eb78d42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54cd3a2944d59" /><Relationship Type="http://schemas.openxmlformats.org/officeDocument/2006/relationships/image" Target="/ppt/media/image10.png" Id="Rbcaeb3d41a484d23" /><Relationship Type="http://schemas.openxmlformats.org/officeDocument/2006/relationships/image" Target="/ppt/media/image11.png" Id="R40f9067250554ad8" /><Relationship Type="http://schemas.openxmlformats.org/officeDocument/2006/relationships/image" Target="/ppt/media/image12.png" Id="Rbf20996d34ca4136" /><Relationship Type="http://schemas.openxmlformats.org/officeDocument/2006/relationships/image" Target="/ppt/media/image13.png" Id="Rf11dea064a96430f" /><Relationship Type="http://schemas.openxmlformats.org/officeDocument/2006/relationships/image" Target="/ppt/media/image14.png" Id="R17a5b7fb21464063" /><Relationship Type="http://schemas.openxmlformats.org/officeDocument/2006/relationships/notesSlide" Target="/ppt/notesSlides/notesSlide6.xml" Id="R3ef038d7acf44c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402c99c7f4819" /><Relationship Type="http://schemas.openxmlformats.org/officeDocument/2006/relationships/image" Target="/ppt/media/image15.png" Id="R87d6bf032efc4882" /><Relationship Type="http://schemas.openxmlformats.org/officeDocument/2006/relationships/notesSlide" Target="/ppt/notesSlides/notesSlide7.xml" Id="R04d5193ee2d94a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8d617c40047fe" /><Relationship Type="http://schemas.openxmlformats.org/officeDocument/2006/relationships/image" Target="/ppt/media/image3.jpeg" Id="Rb660585efb8d4114" /><Relationship Type="http://schemas.openxmlformats.org/officeDocument/2006/relationships/image" Target="/ppt/media/image16.png" Id="R624997a19da14a29" /><Relationship Type="http://schemas.openxmlformats.org/officeDocument/2006/relationships/image" Target="/ppt/media/image17.png" Id="R193a37212c7e4091" /><Relationship Type="http://schemas.openxmlformats.org/officeDocument/2006/relationships/notesSlide" Target="/ppt/notesSlides/notesSlide8.xml" Id="R308f877bb3e0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b426818224b58" /><Relationship Type="http://schemas.openxmlformats.org/officeDocument/2006/relationships/image" Target="/ppt/media/image4.jpeg" Id="R1f80f79fa36742a9" /><Relationship Type="http://schemas.openxmlformats.org/officeDocument/2006/relationships/image" Target="/ppt/media/image18.png" Id="R00aca3ae3bde40e0" /><Relationship Type="http://schemas.openxmlformats.org/officeDocument/2006/relationships/image" Target="/ppt/media/image19.png" Id="R69d808f361c84ce1" /><Relationship Type="http://schemas.openxmlformats.org/officeDocument/2006/relationships/notesSlide" Target="/ppt/notesSlides/notesSlide9.xml" Id="R4f7b6f1cf5da47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2a2d837214477" /><Relationship Type="http://schemas.openxmlformats.org/officeDocument/2006/relationships/image" Target="/ppt/media/image5.jpeg" Id="Rd1f897c6261c436c" /><Relationship Type="http://schemas.openxmlformats.org/officeDocument/2006/relationships/image" Target="/ppt/media/image20.png" Id="Rcd57e4c0bad44443" /><Relationship Type="http://schemas.openxmlformats.org/officeDocument/2006/relationships/image" Target="/ppt/media/image21.png" Id="R93258dbda9d94b50" /><Relationship Type="http://schemas.openxmlformats.org/officeDocument/2006/relationships/notesSlide" Target="/ppt/notesSlides/notesSlide10.xml" Id="Re1dcc85fc2044e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7fd723d9c4994" /><Relationship Type="http://schemas.openxmlformats.org/officeDocument/2006/relationships/image" Target="/ppt/media/image22.png" Id="Rec04627e5dbb4ea6" /><Relationship Type="http://schemas.openxmlformats.org/officeDocument/2006/relationships/notesSlide" Target="/ppt/notesSlides/notesSlide11.xml" Id="Rceb4f470fd5e47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ffbde914d483b" /><Relationship Type="http://schemas.openxmlformats.org/officeDocument/2006/relationships/image" Target="/ppt/media/image23.png" Id="Re21169e8b1034310" /><Relationship Type="http://schemas.openxmlformats.org/officeDocument/2006/relationships/image" Target="/ppt/media/image24.png" Id="R8a5d694b46ad47b2" /><Relationship Type="http://schemas.openxmlformats.org/officeDocument/2006/relationships/notesSlide" Target="/ppt/notesSlides/notesSlide12.xml" Id="Ra8e84b66bc3c41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2ab06a0d748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5ED9F-FB99-4189-82D3-4B62D149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1B40">
                  <a:alpha val="98000"/>
                </a:srgbClr>
              </a:gs>
              <a:gs pos="64000">
                <a:srgbClr val="082A5E">
                  <a:alpha val="91000"/>
                </a:srgbClr>
              </a:gs>
              <a:gs pos="100000">
                <a:srgbClr val="082A5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DB19F-F705-4D0B-89CC-6A420ADA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571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36af832db494c"/>
          <a:stretch xmlns:a="http://schemas.openxmlformats.org/drawingml/2006/main"/>
        </p:blipFill>
        <p:spPr>
          <a:xfrm xmlns:a="http://schemas.openxmlformats.org/drawingml/2006/main">
            <a:off x="1400175" y="571500"/>
            <a:ext cx="990600" cy="74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66919-8725-47D2-B15C-5399A9FB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43100"/>
            <a:ext cx="723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5B979-498A-4F43-A77F-82A4B794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CONTROLE DE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ACESSO INTELIGENTE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F9C1B-36F2-431C-A52E-4F9B2405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FFFFF">
                    <a:alpha val="78000"/>
                  </a:srgbClr>
                </a:solidFill>
              </a:defRPr>
            </a:pPr>
            <a:r>
              <a:rPr sz="1650">
                <a:solidFill>
                  <a:srgbClr val="FFFFFF">
                    <a:alpha val="78000"/>
                  </a:srgbClr>
                </a:solidFill>
              </a:rPr>
              <a:t>Uma operação conectada para gestão, portaria, moradores e equipamentos.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9E86D-0D12-468E-9A74-5E50B06C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1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6C8FA-48AA-4F80-9AA4-15EA1414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PLATAFORMA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FFD3D-DD1A-4B15-8939-03DC8BB6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29175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1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DB38F-0A3A-44FA-8D16-5C6AB8A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APLICATIVO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E69E3-589C-44D0-9595-89A3B79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29175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C64B0-E436-431E-AD77-91081FFD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053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61F49"/>
                </a:solidFill>
              </a:defRPr>
            </a:pPr>
            <a:r>
              <a:rPr sz="900" b="1">
                <a:solidFill>
                  <a:srgbClr val="061F49"/>
                </a:solidFill>
              </a:rPr>
              <a:t>EQUIPAMENTOS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EC790-B15A-4F35-9E56-94D12618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FFFF">
                    <a:alpha val="56000"/>
                  </a:srgbClr>
                </a:solidFill>
              </a:defRPr>
            </a:pPr>
            <a:r>
              <a:rPr sz="900" b="1">
                <a:solidFill>
                  <a:srgbClr val="FFFFFF">
                    <a:alpha val="56000"/>
                  </a:srgbClr>
                </a:solidFill>
              </a:rPr>
              <a:t>F&amp;F ACCESS</a:t>
            </a:r>
          </a:p>
        </p:txBody>
      </p:sp>
    </p:spTree>
    <p:extLst>
      <p:ext uri="{BB962C8B-B14F-4D97-AF65-F5344CB8AC3E}">
        <p14:creationId xmlns:p14="http://schemas.microsoft.com/office/powerpoint/2010/main" val="36210690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F49"/>
            </a:gs>
            <a:gs pos="100000">
              <a:srgbClr val="0A326C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01D97-C0F8-4B7E-BC6C-F644D65F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A7D92D"/>
                </a:solidFill>
              </a:defRPr>
            </a:pPr>
            <a:r>
              <a:rPr sz="825" b="1">
                <a:solidFill>
                  <a:srgbClr val="A7D92D"/>
                </a:solidFill>
              </a:rPr>
              <a:t>O CENÁRIO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FCF4F-5531-4EA3-8A28-773CBAAC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Operação conectada. Segurança mais forte.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07B12-8E5A-47EB-8764-169D0EC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291D1-C768-423B-958D-18A755D8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8B9E7-A7C9-431D-AB73-A19E3F46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E120E-B587-4F21-A680-8A46D8AC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43169-782A-4209-8807-7EB637F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8BD22-33D5-4701-A8C8-EF985D81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FFFFFF">
                    <a:alpha val="62000"/>
                  </a:srgbClr>
                </a:solidFill>
              </a:defRPr>
            </a:pPr>
            <a:r>
              <a:rPr sz="675" b="1">
                <a:solidFill>
                  <a:srgbClr val="FFFFFF">
                    <a:alpha val="62000"/>
                  </a:srgbClr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F37BA-0D90-4DF3-A368-4661F65E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FFFFFF">
                    <a:alpha val="62000"/>
                  </a:srgbClr>
                </a:solidFill>
              </a:defRPr>
            </a:pPr>
            <a:r>
              <a:rPr sz="750" b="1">
                <a:solidFill>
                  <a:srgbClr val="FFFFFF">
                    <a:alpha val="62000"/>
                  </a:srgbClr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A19CA-DF41-47B7-B48C-E8D010D0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FFFFFF">
                    <a:alpha val="70000"/>
                  </a:srgbClr>
                </a:solidFill>
              </a:defRPr>
            </a:pPr>
            <a:r>
              <a:rPr sz="1500">
                <a:solidFill>
                  <a:srgbClr val="FFFFFF">
                    <a:alpha val="70000"/>
                  </a:srgbClr>
                </a:solidFill>
              </a:rPr>
              <a:t>Hoje, muitos condomínios ainda dependem de processos que não se conversam.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20F88-74EF-4B42-B3FD-8D6DBECD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476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1C9E2-AC2F-408D-86F4-8B69198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EA6A6-E6C5-4B4A-85FA-937106BF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78C943"/>
                </a:solidFill>
              </a:defRPr>
            </a:pPr>
            <a:r>
              <a:rPr sz="975" b="1">
                <a:solidFill>
                  <a:srgbClr val="78C943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D4F04-B3C8-4612-8EB1-7C413DE1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43100"/>
            <a:ext cx="430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Processos manuais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3D3EA-9702-484E-A736-0FB237DF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FFFFFF">
                    <a:alpha val="68000"/>
                  </a:srgbClr>
                </a:solidFill>
              </a:defRPr>
            </a:pPr>
            <a:r>
              <a:rPr sz="1050">
                <a:solidFill>
                  <a:srgbClr val="FFFFFF">
                    <a:alpha val="68000"/>
                  </a:srgbClr>
                </a:solidFill>
              </a:rPr>
              <a:t>Convites, autorizações e registros exigem retrabalho da portaria.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AADF2-7C73-455F-8D53-87AE1C64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D0AA5-EF78-4E9F-AAA4-A536F7D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78C943"/>
                </a:solidFill>
              </a:defRPr>
            </a:pPr>
            <a:r>
              <a:rPr sz="975" b="1">
                <a:solidFill>
                  <a:srgbClr val="78C943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C3C53-9B32-4F51-8DB6-42FAC6AE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76575"/>
            <a:ext cx="430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Dados espalhados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7DFED-9B03-4D7D-AA98-7C2E92B7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24225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FFFFFF">
                    <a:alpha val="68000"/>
                  </a:srgbClr>
                </a:solidFill>
              </a:defRPr>
            </a:pPr>
            <a:r>
              <a:rPr sz="1050">
                <a:solidFill>
                  <a:srgbClr val="FFFFFF">
                    <a:alpha val="68000"/>
                  </a:srgbClr>
                </a:solidFill>
              </a:rPr>
              <a:t>A gestão perde tempo conciliando pessoas, credenciais, ocorrências e equipamentos.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872AC-0830-4F5A-BF19-FA9DE000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5B279-8C51-4689-8A65-D2B58CF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78C943"/>
                </a:solidFill>
              </a:defRPr>
            </a:pPr>
            <a:r>
              <a:rPr sz="975" b="1">
                <a:solidFill>
                  <a:srgbClr val="78C943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6307E-CF72-48A5-A8F8-4F17162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430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Experiência fragmentada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55009-606D-4186-961B-CA869AD4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FFFFFF">
                    <a:alpha val="68000"/>
                  </a:srgbClr>
                </a:solidFill>
              </a:defRPr>
            </a:pPr>
            <a:r>
              <a:rPr sz="1050">
                <a:solidFill>
                  <a:srgbClr val="FFFFFF">
                    <a:alpha val="68000"/>
                  </a:srgbClr>
                </a:solidFill>
              </a:rPr>
              <a:t>Moradores e equipes usam canais diferentes e recebem respostas inconsistentes.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253045-CD6A-4B80-BAE4-ED634E0A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4705350" cy="30289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88CE6-4400-4B4A-BABE-5A09D2EC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62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7D92D"/>
                </a:solidFill>
              </a:defRPr>
            </a:pPr>
            <a:r>
              <a:rPr sz="1200" b="1">
                <a:solidFill>
                  <a:srgbClr val="A7D92D"/>
                </a:solidFill>
              </a:rPr>
              <a:t>A proposta F&amp;F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F7DBD-831B-4AB3-BEEB-9E40D27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3857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Um único fluxo para</a:t>
            </a:r>
          </a:p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ver, decidir e agir.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F1BCB7-B8FB-4406-9FD7-2C52BB92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6240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>
                    <a:alpha val="72000"/>
                  </a:srgbClr>
                </a:solidFill>
              </a:defRPr>
            </a:pPr>
            <a:r>
              <a:rPr sz="1350">
                <a:solidFill>
                  <a:srgbClr val="FFFFFF">
                    <a:alpha val="72000"/>
                  </a:srgbClr>
                </a:solidFill>
              </a:rPr>
              <a:t>Portal, aplicativo e equipamentos compartilhando contexto em tempo real.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4da067f6a4b57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</p:spTree>
    <p:extLst>
      <p:ext uri="{BB962C8B-B14F-4D97-AF65-F5344CB8AC3E}">
        <p14:creationId xmlns:p14="http://schemas.microsoft.com/office/powerpoint/2010/main" val="1711689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4DF0D-15F5-41E9-8ACD-37378593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ECOSSISTEMA F&amp;F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33D60-0237-4FB2-B2B9-D58CCD2D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Uma plataforma. Três experiências conectadas.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3F68D-D938-4D1A-96E2-98C27F26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FA657-22EF-4551-B5CE-F0DFE064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38860-65F1-4B66-AB90-274E2F7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7B72D-DBAC-4DC6-A03D-4DF18F50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0E829-CABC-4048-AEF4-3279EF69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EF252-355D-4EC5-A978-78DD06F0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7B8AA1"/>
                </a:solidFill>
              </a:defRPr>
            </a:pPr>
            <a:r>
              <a:rPr sz="675" b="1">
                <a:solidFill>
                  <a:srgbClr val="7B8AA1"/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80830-3401-413B-AB33-6529BA1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B8AA1"/>
                </a:solidFill>
              </a:defRPr>
            </a:pPr>
            <a:r>
              <a:rPr sz="750" b="1">
                <a:solidFill>
                  <a:srgbClr val="7B8AA1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790D7-DC91-49E9-83E0-E46A3C69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37B"/>
                </a:solidFill>
              </a:defRPr>
            </a:pPr>
            <a:r>
              <a:rPr sz="1350">
                <a:solidFill>
                  <a:srgbClr val="52637B"/>
                </a:solidFill>
              </a:rPr>
              <a:t>Cada interação atualiza o mesmo núcleo operacional — sem ilhas de informação.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EDF36-7000-484F-A5CB-53F577F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72415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67C84-8333-4FB3-B6E6-6D264CBC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5A824-7D47-4417-A35E-888F1828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31952-48ED-4C2F-AD4E-6AB293FC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Gestão e operação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56F2B-A49E-44CC-865C-F6CF64DC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37B"/>
                </a:solidFill>
              </a:defRPr>
            </a:pPr>
            <a:r>
              <a:rPr sz="1200">
                <a:solidFill>
                  <a:srgbClr val="52637B"/>
                </a:solidFill>
              </a:rPr>
              <a:t>Painéis, cadastros, alertas, auditoria e configuração por condomínio.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5A3D2-2ED6-432C-B255-A01A96D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03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78C943"/>
                </a:solidFill>
              </a:defRPr>
            </a:pPr>
            <a:r>
              <a:rPr sz="2850" b="1">
                <a:solidFill>
                  <a:srgbClr val="78C94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086C2-E969-4F2C-8824-1A2BFF3F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81200"/>
            <a:ext cx="2895600" cy="2705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A3979"/>
              </a:gs>
              <a:gs pos="100000">
                <a:srgbClr val="082A5E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C75BF-B5A2-4984-BB56-9B433A1F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1460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4C73E-6684-4E85-BBED-53E5DAC5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146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7D92D"/>
                </a:solidFill>
              </a:defRPr>
            </a:pPr>
            <a:r>
              <a:rPr sz="1500" b="1">
                <a:solidFill>
                  <a:srgbClr val="A7D92D"/>
                </a:solidFill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5F99F-1A5F-49BE-ABFA-E4A28433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95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>
                    <a:alpha val="64000"/>
                  </a:srgbClr>
                </a:solidFill>
              </a:defRPr>
            </a:pPr>
            <a:r>
              <a:rPr sz="825" b="1">
                <a:solidFill>
                  <a:srgbClr val="FFFFFF">
                    <a:alpha val="64000"/>
                  </a:srgbClr>
                </a:solidFill>
              </a:rPr>
              <a:t>NÚCLEO OPERACIONAL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A9E8F-8612-4B8A-AC39-6D609D0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003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78C943"/>
                </a:solidFill>
              </a:defRPr>
            </a:pPr>
            <a:r>
              <a:rPr sz="2850" b="1">
                <a:solidFill>
                  <a:srgbClr val="78C943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13CCB-8B23-46E2-9C21-60A9601E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7909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8CFA3-4553-4639-8942-3BA6EE25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38765"/>
                </a:solidFill>
              </a:defRPr>
            </a:pPr>
            <a:r>
              <a:rPr sz="900" b="1">
                <a:solidFill>
                  <a:srgbClr val="138765"/>
                </a:solidFill>
              </a:rPr>
              <a:t>APLICATIVO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1CE31-4E6D-4283-9FF4-E09051B8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384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Moradores e equipes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77A0C-7E50-4B0F-9BC8-3CC4ED2C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37909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D9F71-F1D9-4E31-BF05-271D8E7E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458D8"/>
                </a:solidFill>
              </a:defRPr>
            </a:pPr>
            <a:r>
              <a:rPr sz="900" b="1">
                <a:solidFill>
                  <a:srgbClr val="2458D8"/>
                </a:solidFill>
              </a:rPr>
              <a:t>EQUIPAMENTOS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A4D4A-7786-4113-80FC-44963A15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52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Terminais e controladoras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7BAC8-D0A5-4E16-AFEF-001E219B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87630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8E6"/>
          </a:solidFill>
          <a:ln xmlns:a="http://schemas.openxmlformats.org/drawingml/2006/main" w="9525">
            <a:solidFill>
              <a:srgbClr val="CDE7B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B745E-3B4D-40A7-B9F9-A0B6DC26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91150"/>
            <a:ext cx="811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2A5E"/>
                </a:solidFill>
              </a:defRPr>
            </a:pPr>
            <a:r>
              <a:rPr sz="1200" b="1">
                <a:solidFill>
                  <a:srgbClr val="082A5E"/>
                </a:solidFill>
              </a:rPr>
              <a:t>Pessoas  •  Credenciais  •  Rotas  •  Eventos  •  Automações  •  Auditoria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d4b2c241849c9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80359b97249b5"/>
          <a:stretch xmlns:a="http://schemas.openxmlformats.org/drawingml/2006/main"/>
        </p:blipFill>
        <p:spPr>
          <a:xfrm xmlns:a="http://schemas.openxmlformats.org/drawingml/2006/main">
            <a:off x="4514850" y="2534399"/>
            <a:ext cx="2057400" cy="8557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36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6B42B1-5710-4929-8BD5-5A99C00C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PLATAFORMA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16DB9-4ABB-487B-8745-C38A519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A gestão enxerga o condomínio inteiro em um só painel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ADFF6-F3DD-45EF-B3CE-46556FC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CCB23-C970-49F4-A65F-AC13EE7C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B79F6-BAF8-4568-8970-E9A84697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43838-EA0C-4046-A94B-000E8A76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FBF5D-C93D-4703-9D93-F9DA329C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16C60-E02A-4921-9E35-097611AF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7B8AA1"/>
                </a:solidFill>
              </a:defRPr>
            </a:pPr>
            <a:r>
              <a:rPr sz="675" b="1">
                <a:solidFill>
                  <a:srgbClr val="7B8AA1"/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49433-2DAC-4F01-9D9F-922A42C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B8AA1"/>
                </a:solidFill>
              </a:defRPr>
            </a:pPr>
            <a:r>
              <a:rPr sz="750" b="1">
                <a:solidFill>
                  <a:srgbClr val="7B8AA1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8D46B-D634-4676-9313-7301DE11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78867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2d81b78b54a91"/>
          <a:srcRect xmlns:a="http://schemas.openxmlformats.org/drawingml/2006/main" l="0" t="1200" r="0" b="1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8820" y="1723823"/>
            <a:ext cx="6120610" cy="336003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3BB92-5641-4134-BE03-0D558007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458D8"/>
                </a:solidFill>
              </a:defRPr>
            </a:pPr>
            <a:r>
              <a:rPr sz="900" b="1">
                <a:solidFill>
                  <a:srgbClr val="2458D8"/>
                </a:solidFill>
              </a:rPr>
              <a:t>VISÃO OPERACIONAL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EC331-EFEF-48AB-BA37-5158D91D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EF5D9-63BB-415F-8925-8F076D95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02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41855-A323-486E-8B55-C0A33FD7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05025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Indicadores essenciais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29C9F-4295-4F59-8B5C-E9695A7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5267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Condomínios, moradores, equipamentos e prioridades em uma leitura.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71AB2-B393-4C02-9748-F60C282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F3A80-5CAB-4F86-A693-44B14E98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05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4110C-E004-466D-AFDF-FC14142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09925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Saúde da operação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64A66-970A-4C8B-88CB-C4B4B31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5757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Sincronizações, acessos, reservas e pendências com contexto.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4C6AF-A78A-4F10-B734-1978F1C0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D2953-DD46-42A7-859E-42363A8D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0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2C169-3111-4F1B-A439-EABE3370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14825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Ação rápida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1C73C-C8EB-4357-92FF-338E502B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6247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A equipe identifica o próximo passo sem percorrer menus extensos.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C34D9E-0462-4F32-9304-6CB94B10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76875"/>
            <a:ext cx="2876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99279-5658-4675-9DBA-E5788662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5307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UM PAINEL • MÚLTIPLOS CONDOMÍNIOS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9f76c3f43417a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79a0387ce426e"/>
          <a:stretch xmlns:a="http://schemas.openxmlformats.org/drawingml/2006/main"/>
        </p:blipFill>
        <p:spPr>
          <a:xfrm xmlns:a="http://schemas.openxmlformats.org/drawingml/2006/main">
            <a:off x="381000" y="1469807"/>
            <a:ext cx="8096250" cy="45565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74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A1296B-A40E-45E3-A3AA-13DBFAE0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ORGANIZAÇÃO POR AMBIENTE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A809D-6F4A-463F-B0C7-EE74015C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Um ambiente completo para cada condomínio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33FA0-BC13-42F2-9BB6-D2CAA2EC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595C4-EEE4-43EC-AD0B-E447D37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5F3FB-D047-4C29-B57B-86477959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D705A-108D-4FBF-9A5A-28510627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3A6E0-8386-4689-A97E-6302C2DF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9AFCF-161A-4870-8BCE-A5364F0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7B8AA1"/>
                </a:solidFill>
              </a:defRPr>
            </a:pPr>
            <a:r>
              <a:rPr sz="675" b="1">
                <a:solidFill>
                  <a:srgbClr val="7B8AA1"/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5A383-82FB-41B8-963F-8DC48482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B8AA1"/>
                </a:solidFill>
              </a:defRPr>
            </a:pPr>
            <a:r>
              <a:rPr sz="750" b="1">
                <a:solidFill>
                  <a:srgbClr val="7B8AA1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2BB3D-E91E-4685-A512-DF331A07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37B"/>
                </a:solidFill>
              </a:defRPr>
            </a:pPr>
            <a:r>
              <a:rPr sz="1350">
                <a:solidFill>
                  <a:srgbClr val="52637B"/>
                </a:solidFill>
              </a:rPr>
              <a:t>Tudo o que pertence ao condomínio permanece organizado em um contexto único.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3A2C9-E1D3-4B66-B0B0-E8A5BB5B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784E1-B83B-45F3-B18E-06C65DBD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E7F74-3CB4-4E88-87AC-5A25BD3D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49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Monitoramento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7801A-DF2C-4C89-B4AE-D409575A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Câmeras, equipamentos, rotas e eventos.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C647B-5C3F-48D8-A00F-AA31B942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8FA9E-9247-4F56-920C-64C73151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6BCA3-5B92-4E74-A5C7-B5BD072D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49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Operação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944FE-B81C-41AC-955A-09E0F0C5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Acessos, ocorrências, automações e emergências.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36980-CD80-42F5-824D-F4DB38B4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D678B-7EFE-4320-98D3-FE6035D4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81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50DD5-2C5B-4C7A-848D-F9BA616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249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Gestão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D2AD8-93CF-4070-AFD0-FD971CF4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Estrutura, credenciais, documentos e administração.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96688-B3AC-44DF-9AD7-58E748A5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2895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E05FC-C301-41FA-BECB-E6F2C6B4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2A5E"/>
                </a:solidFill>
              </a:defRPr>
            </a:pPr>
            <a:r>
              <a:rPr sz="1125" b="1">
                <a:solidFill>
                  <a:srgbClr val="082A5E"/>
                </a:solidFill>
              </a:rPr>
              <a:t>Configuração clara. Navegação previsível.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2E3AF-ACF4-48C8-9F6B-190B5F03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28775"/>
            <a:ext cx="7924800" cy="4448175"/>
          </a:xfrm>
          <a:prstGeom xmlns:a="http://schemas.openxmlformats.org/drawingml/2006/main" prst="roundRect">
            <a:avLst>
              <a:gd name="adj" fmla="val 34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e4fe97ae8431e"/>
          <a:srcRect xmlns:a="http://schemas.openxmlformats.org/drawingml/2006/main" l="0" t="1200" r="0" b="1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3520" y="1761923"/>
            <a:ext cx="6120610" cy="3360037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aef0bc4194519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cd641ca434cc7"/>
          <a:stretch xmlns:a="http://schemas.openxmlformats.org/drawingml/2006/main"/>
        </p:blipFill>
        <p:spPr>
          <a:xfrm xmlns:a="http://schemas.openxmlformats.org/drawingml/2006/main">
            <a:off x="3695700" y="1507907"/>
            <a:ext cx="8096250" cy="45565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43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F1A64-F228-42AF-848B-C6F54B7C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APLICATIVO F&amp;F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6DC9E-743E-4D4A-8605-B1B0972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O controle vai para a mão de quem realmente usa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71FAE-CB75-4804-A1FE-8217F1C0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DA7FD-113C-45F2-9AE8-545A14F0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EE94E-D089-43FB-B372-3AC8F2AB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6400F-B751-4E6D-8BA3-9C4514EF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72EED-8FE4-4C67-A559-E494291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299DD-32FE-43DD-BFD9-028EB056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7B8AA1"/>
                </a:solidFill>
              </a:defRPr>
            </a:pPr>
            <a:r>
              <a:rPr sz="675" b="1">
                <a:solidFill>
                  <a:srgbClr val="7B8AA1"/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9BA72-B846-459F-949C-3D3BBB89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B8AA1"/>
                </a:solidFill>
              </a:defRPr>
            </a:pPr>
            <a:r>
              <a:rPr sz="750" b="1">
                <a:solidFill>
                  <a:srgbClr val="7B8AA1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5F81B-FC5D-48EA-963B-692B31F5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37B"/>
                </a:solidFill>
              </a:defRPr>
            </a:pPr>
            <a:r>
              <a:rPr sz="1350">
                <a:solidFill>
                  <a:srgbClr val="52637B"/>
                </a:solidFill>
              </a:rPr>
              <a:t>Uma experiência móvel simples e segura, com permissões definidas pelo perfil.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eb3d41a484d23"/>
          <a:srcRect xmlns:a="http://schemas.openxmlformats.org/drawingml/2006/main" l="3390" t="0" r="33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023" y="1570673"/>
            <a:ext cx="2004060" cy="4444365"/>
          </a:xfrm>
          <a:prstGeom xmlns:a="http://schemas.openxmlformats.org/drawingml/2006/main" prst="roundRect">
            <a:avLst>
              <a:gd name="adj" fmla="val 760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CF6E2-5BD3-407F-B246-5B18CE5B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4229100" cy="4114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D6456-9269-4530-ABA6-7C530219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08CFA-8B05-4C8F-9C55-47ED824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8CB5C-3529-40F6-93C2-1325B035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81225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Visitantes e convites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DD468-937C-489C-A3EE-D09156A3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2887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QR Code, facial temporária, horários e validade.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CC7DC-CF48-448C-A100-C2F400F4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A9AD9-32F9-44E0-8D12-BC5580B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D51CB-AB86-4740-9472-4D67ECB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Rotina do morador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EF5D5-8CDC-42FA-9B98-0491556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Veículos, tags, reservas, notificações e câmeras.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58BF3-DE0D-4BCD-9489-225BF602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C8349-AF25-4920-8420-E237CDF2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08940-BB36-43C6-80E2-0BF68929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90975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Operação da equipe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2AD5D-F502-48F7-8033-3D9C7B1E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38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Portaria, ocorrências e ações conforme o perfil.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C8231-7D31-406F-A6A8-28F5B036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3448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8E6"/>
          </a:solidFill>
          <a:ln xmlns:a="http://schemas.openxmlformats.org/drawingml/2006/main" w="9525">
            <a:solidFill>
              <a:srgbClr val="CAE5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23FBAE-9A9B-47BD-A440-9673437D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82A5E"/>
                </a:solidFill>
              </a:defRPr>
            </a:pPr>
            <a:r>
              <a:rPr sz="900" b="1">
                <a:solidFill>
                  <a:srgbClr val="082A5E"/>
                </a:solidFill>
              </a:rPr>
              <a:t>LOGIN ÚNICO • EXPERIÊNCIA POR PERFIL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9067250554ad8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0996d34ca4136"/>
          <a:srcRect xmlns:a="http://schemas.openxmlformats.org/drawingml/2006/main" l="3390" t="0" r="33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5873" y="1570673"/>
            <a:ext cx="2004060" cy="4444365"/>
          </a:xfrm>
          <a:prstGeom xmlns:a="http://schemas.openxmlformats.org/drawingml/2006/main" prst="roundRect">
            <a:avLst>
              <a:gd name="adj" fmla="val 7605"/>
            </a:avLst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dea064a96430f"/>
          <a:stretch xmlns:a="http://schemas.openxmlformats.org/drawingml/2006/main"/>
        </p:blipFill>
        <p:spPr>
          <a:xfrm xmlns:a="http://schemas.openxmlformats.org/drawingml/2006/main">
            <a:off x="5754576" y="1390650"/>
            <a:ext cx="2273523" cy="476250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5b7fb21464063"/>
          <a:stretch xmlns:a="http://schemas.openxmlformats.org/drawingml/2006/main"/>
        </p:blipFill>
        <p:spPr>
          <a:xfrm xmlns:a="http://schemas.openxmlformats.org/drawingml/2006/main">
            <a:off x="8745426" y="1390650"/>
            <a:ext cx="227352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44374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F49"/>
            </a:gs>
            <a:gs pos="100000">
              <a:srgbClr val="0A3979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87549E-3C82-4350-BC44-A1959B6E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A7D92D"/>
                </a:solidFill>
              </a:defRPr>
            </a:pPr>
            <a:r>
              <a:rPr sz="825" b="1">
                <a:solidFill>
                  <a:srgbClr val="A7D92D"/>
                </a:solidFill>
              </a:rPr>
              <a:t>JORNADA DO VISITANTE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88BE4-638C-4D51-8230-75A17EC6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Convites temporários: segurança sem atrito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272F2-7FE8-4D73-A3D9-FC09701C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33847-8A41-4A95-A4BD-B02AD52D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C175D-C095-4C8B-B2D2-584A1E58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8B19B-52A8-40A6-804E-40176D77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EF1D3-85EE-429F-8D49-096F847A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15F21-38B8-4898-9F76-7DFD28AB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FFFFFF">
                    <a:alpha val="62000"/>
                  </a:srgbClr>
                </a:solidFill>
              </a:defRPr>
            </a:pPr>
            <a:r>
              <a:rPr sz="675" b="1">
                <a:solidFill>
                  <a:srgbClr val="FFFFFF">
                    <a:alpha val="62000"/>
                  </a:srgbClr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B7464-730D-4B2F-BCCB-559663D5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FFFFFF">
                    <a:alpha val="62000"/>
                  </a:srgbClr>
                </a:solidFill>
              </a:defRPr>
            </a:pPr>
            <a:r>
              <a:rPr sz="750" b="1">
                <a:solidFill>
                  <a:srgbClr val="FFFFFF">
                    <a:alpha val="62000"/>
                  </a:srgbClr>
                </a:solidFill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4B537-AC43-457E-BC8D-B0067D95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>
                    <a:alpha val="72000"/>
                  </a:srgbClr>
                </a:solidFill>
              </a:defRPr>
            </a:pPr>
            <a:r>
              <a:rPr sz="1350">
                <a:solidFill>
                  <a:srgbClr val="FFFFFF">
                    <a:alpha val="72000"/>
                  </a:srgbClr>
                </a:solidFill>
              </a:rPr>
              <a:t>QR Code ou convite facial: o visitante recebe uma jornada simples e o condomínio mantém o controle.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2411F-72C1-4AB1-8CA8-CCEF709A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929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00070-FCEC-4DA4-9DBB-92227C4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EFAC1-C57C-4FB3-A53E-B6B01F8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17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58D8"/>
                </a:solidFill>
              </a:defRPr>
            </a:pPr>
            <a:r>
              <a:rPr sz="1500" b="1">
                <a:solidFill>
                  <a:srgbClr val="2458D8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4745D-1717-4DDF-9626-52879592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Morador cria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094A9-354E-4B85-A02D-C79CB237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FFFFFF">
                    <a:alpha val="66000"/>
                  </a:srgbClr>
                </a:solidFill>
              </a:defRPr>
            </a:pPr>
            <a:r>
              <a:rPr sz="1050">
                <a:solidFill>
                  <a:srgbClr val="FFFFFF">
                    <a:alpha val="66000"/>
                  </a:srgbClr>
                </a:solidFill>
              </a:rPr>
              <a:t>Define tipo, período e regras.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AB122-D137-4AC1-9C17-21F0E5D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95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32894-CDA0-4650-9C89-496FCA68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717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58D8"/>
                </a:solidFill>
              </a:defRPr>
            </a:pPr>
            <a:r>
              <a:rPr sz="1500" b="1">
                <a:solidFill>
                  <a:srgbClr val="2458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66139-2EF4-48D9-8CDD-87FB7566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385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Visitante recebe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88CE9-81C5-411D-AC2C-6DD7DF3D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9097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FFFFFF">
                    <a:alpha val="66000"/>
                  </a:srgbClr>
                </a:solidFill>
              </a:defRPr>
            </a:pPr>
            <a:r>
              <a:rPr sz="1050">
                <a:solidFill>
                  <a:srgbClr val="FFFFFF">
                    <a:alpha val="66000"/>
                  </a:srgbClr>
                </a:solidFill>
              </a:rPr>
              <a:t>Link explicativo no celular.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CC669-0747-4496-BC5C-91D7DF3B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95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19050">
            <a:solidFill>
              <a:srgbClr val="B7E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EF3C8-56A6-4935-99A0-D3C3EF18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717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61F49"/>
                </a:solidFill>
              </a:defRPr>
            </a:pPr>
            <a:r>
              <a:rPr sz="1500" b="1">
                <a:solidFill>
                  <a:srgbClr val="061F49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10621-35DB-4489-877F-15242799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Cadastro seguro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16808-A968-4936-9DDE-95D2DFEC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9097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FFFFFF">
                    <a:alpha val="66000"/>
                  </a:srgbClr>
                </a:solidFill>
              </a:defRPr>
            </a:pPr>
            <a:r>
              <a:rPr sz="1050">
                <a:solidFill>
                  <a:srgbClr val="FFFFFF">
                    <a:alpha val="66000"/>
                  </a:srgbClr>
                </a:solidFill>
              </a:rPr>
              <a:t>Foto facial ou QR Code.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FC4ED-FA96-4277-942A-993F616C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95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AB4CF-285B-4CC8-8F6D-24F71E6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717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458D8"/>
                </a:solidFill>
              </a:defRPr>
            </a:pPr>
            <a:r>
              <a:rPr sz="1500" b="1">
                <a:solidFill>
                  <a:srgbClr val="2458D8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0005C4-D66F-499A-A108-03A0AC40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385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Acesso expira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FAADA-6CBE-4E26-A8BB-43EBF0C4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9097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FFFFFF">
                    <a:alpha val="66000"/>
                  </a:srgbClr>
                </a:solidFill>
              </a:defRPr>
            </a:pPr>
            <a:r>
              <a:rPr sz="1050">
                <a:solidFill>
                  <a:srgbClr val="FFFFFF">
                    <a:alpha val="66000"/>
                  </a:srgbClr>
                </a:solidFill>
              </a:rPr>
              <a:t>Remoção automática e registro.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FEB44-42E9-4E6D-AD1D-E3D8EE9B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858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BA4C04-7825-42F2-B745-FF7604BF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19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7D92D"/>
                </a:solidFill>
              </a:defRPr>
            </a:pPr>
            <a:r>
              <a:rPr sz="900" b="1">
                <a:solidFill>
                  <a:srgbClr val="A7D92D"/>
                </a:solidFill>
              </a:rPr>
              <a:t>LIMITES DE USO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F0472F-96CE-4D00-A61E-733D1BEC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7D92D"/>
                </a:solidFill>
              </a:defRPr>
            </a:pPr>
            <a:r>
              <a:rPr sz="900" b="1">
                <a:solidFill>
                  <a:srgbClr val="A7D92D"/>
                </a:solidFill>
              </a:rPr>
              <a:t>ROTAS PERMITIDAS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51C923-A16B-4D06-8FDB-CD4CD6DA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219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7D92D"/>
                </a:solidFill>
              </a:defRPr>
            </a:pPr>
            <a:r>
              <a:rPr sz="900" b="1">
                <a:solidFill>
                  <a:srgbClr val="A7D92D"/>
                </a:solidFill>
              </a:rPr>
              <a:t>HORÁRIOS E VALIDADE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14F06B-EAF4-4BC4-9648-DCD12F58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7D92D"/>
                </a:solidFill>
              </a:defRPr>
            </a:pPr>
            <a:r>
              <a:rPr sz="900" b="1">
                <a:solidFill>
                  <a:srgbClr val="A7D92D"/>
                </a:solidFill>
              </a:rPr>
              <a:t>ALERTA DE EQUIPAMENTO OFFLINE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6bf032efc4882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</p:spTree>
    <p:extLst>
      <p:ext uri="{BB962C8B-B14F-4D97-AF65-F5344CB8AC3E}">
        <p14:creationId xmlns:p14="http://schemas.microsoft.com/office/powerpoint/2010/main" val="17803135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2AE048-87B3-4537-A00A-9C93AF2A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CENTRAL DE OPERAÇÕES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05D72-6479-44D2-8CE6-051274EF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A portaria opera com contexto, prioridade e rastreabilidade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DC627-9AE4-4B13-8CBF-0BE32C03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ADEB9-F806-409D-A91D-C9806CAC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8682F-B5DB-4F8B-8459-5CF1188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F1657-9F9F-4550-8980-4BD387CC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A3994-1605-4174-A41F-B76A014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7F86C-71EB-4174-AFEE-B6DC5ED4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7B8AA1"/>
                </a:solidFill>
              </a:defRPr>
            </a:pPr>
            <a:r>
              <a:rPr sz="675" b="1">
                <a:solidFill>
                  <a:srgbClr val="7B8AA1"/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A444A-AA28-4056-835E-A2FEE4A6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B8AA1"/>
                </a:solidFill>
              </a:defRPr>
            </a:pPr>
            <a:r>
              <a:rPr sz="750" b="1">
                <a:solidFill>
                  <a:srgbClr val="7B8AA1"/>
                </a:solidFill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947D4-1106-4F86-B056-EFE9D5A8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7924800" cy="4448175"/>
          </a:xfrm>
          <a:prstGeom xmlns:a="http://schemas.openxmlformats.org/drawingml/2006/main" prst="roundRect">
            <a:avLst>
              <a:gd name="adj" fmla="val 34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0585efb8d4114"/>
          <a:srcRect xmlns:a="http://schemas.openxmlformats.org/drawingml/2006/main" l="0" t="1200" r="0" b="1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8820" y="1723823"/>
            <a:ext cx="6120610" cy="336003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B5CB3-9E77-430D-966D-D17FB8C4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764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458D8"/>
                </a:solidFill>
              </a:defRPr>
            </a:pPr>
            <a:r>
              <a:rPr sz="900" b="1">
                <a:solidFill>
                  <a:srgbClr val="2458D8"/>
                </a:solidFill>
              </a:rPr>
              <a:t>DECISÃO MAIS RÁPIDA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330A2-B864-4910-9E73-9083AEE2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C3BB9-5531-46D8-9035-CA78DB04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604AA-2B5F-4123-809C-C42D8F08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0502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Eventos com contexto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24FD5-90A6-4C16-BC10-64EE5F31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5267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Autorizados, negados e falhas vistos no mesmo lugar.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DFF0C-4DCD-47EA-B09A-653FC3C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9DF4C-FB7B-464A-9A19-6C20D88D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05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3770C-8457-403B-BF64-3FFB2AED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992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Alertas acionáveis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0F223-04EE-4764-B78A-38A9C4FE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5757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A plataforma separa o que é informativo do que exige atenção.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1D050-9797-40DB-9EBD-624F267E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3AA4B-6B06-4712-9F1F-4A7037C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0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7AA0C-6E97-4FE5-BB98-CC523B9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1482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Histórico auditável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7B441-1DA0-4C9F-ADBC-12FB4A9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6247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Cada ação permanece vinculada ao condomínio, usuário e momento.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66161-B37F-4DB7-9E9B-1D259C17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054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A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4158DC-6AB0-48E6-8133-A8B7E3D6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81650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MENOS PROCURA • MAIS RESPOSTA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997a19da14a29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a37212c7e4091"/>
          <a:stretch xmlns:a="http://schemas.openxmlformats.org/drawingml/2006/main"/>
        </p:blipFill>
        <p:spPr>
          <a:xfrm xmlns:a="http://schemas.openxmlformats.org/drawingml/2006/main">
            <a:off x="381000" y="1469807"/>
            <a:ext cx="8096250" cy="45565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09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75FF6B-BBD5-4E23-9840-A8804A8C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CONTINUIDADE E RECUPERAÇÃO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FAE8A-8A1C-4A6A-BBDE-BF74ED6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Antes de restaurar, a equipe vê exatamente o impacto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2EF7A-AE9D-4A53-BF98-1BE7A943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07D94-CEF1-4F74-A736-62BA4CF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95441-0BF8-485F-9A92-DF660657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E58C3-5ABE-4635-8AE6-00C21D0D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7B5BD-0DBD-4E66-9AA9-3436F12C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20551-FECD-4C3A-9547-C4937DA5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7B8AA1"/>
                </a:solidFill>
              </a:defRPr>
            </a:pPr>
            <a:r>
              <a:rPr sz="675" b="1">
                <a:solidFill>
                  <a:srgbClr val="7B8AA1"/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EF3CC-E577-4924-A114-C120F236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B8AA1"/>
                </a:solidFill>
              </a:defRPr>
            </a:pPr>
            <a:r>
              <a:rPr sz="750" b="1">
                <a:solidFill>
                  <a:srgbClr val="7B8AA1"/>
                </a:solidFill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3A923-C821-46E4-B37C-648A31A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37B"/>
                </a:solidFill>
              </a:defRPr>
            </a:pPr>
            <a:r>
              <a:rPr sz="1350">
                <a:solidFill>
                  <a:srgbClr val="52637B"/>
                </a:solidFill>
              </a:rPr>
              <a:t>Restauração segura começa com comparação — não com tentativa.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23067-4CDA-4AF8-9B7A-1197B772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24025"/>
            <a:ext cx="7772400" cy="4362450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0f79fa36742a9"/>
          <a:srcRect xmlns:a="http://schemas.openxmlformats.org/drawingml/2006/main" l="0" t="1200" r="0" b="1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8820" y="1876223"/>
            <a:ext cx="6120610" cy="3360037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A337C-B967-45F2-81E5-56C03280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14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458D8"/>
                </a:solidFill>
              </a:defRPr>
            </a:pPr>
            <a:r>
              <a:rPr sz="900" b="1">
                <a:solidFill>
                  <a:srgbClr val="2458D8"/>
                </a:solidFill>
              </a:rPr>
              <a:t>BACKUP E RESTAURAÇÃO SEGURA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5F679-63CF-44B1-AB72-0EA7A8C2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810DA-D320-40C1-B5A2-E07D846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33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862F4-4B6D-452C-9211-C9CD489A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38375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Snapshots versionados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F929F-5B35-413A-9D40-620F9936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Histórico protegido para recuperar configurações.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5EECB-CBBE-4996-B3C6-06D95C3D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71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F3D93-0B52-4EE9-AF84-4B3B533A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DFD5E-3552-42D4-902A-21D3430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Simulação obrigatória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A118E-BEA5-4A92-9071-6203E96D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99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Criações, atualizações, bloqueios e conflitos antes da execução.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38838-C004-4035-9D38-542B02B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6C1D3-85A9-4D82-9F1E-81D63829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33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0F7D4-DD33-48B0-9F21-336F2F1F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38625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Restauração flexível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C8C65-D0C5-4F98-8CF5-CBD8926B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862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Individual ou em massa, com relatório para conferência.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B39E0F-94D2-45FA-B056-0126554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34000"/>
            <a:ext cx="28384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8E6"/>
          </a:solidFill>
          <a:ln xmlns:a="http://schemas.openxmlformats.org/drawingml/2006/main" w="9525">
            <a:solidFill>
              <a:srgbClr val="C9E4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DD86F0-DE53-4149-BC56-0A401AA4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8640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2A5E"/>
                </a:solidFill>
              </a:defRPr>
            </a:pPr>
            <a:r>
              <a:rPr sz="975" b="1">
                <a:solidFill>
                  <a:srgbClr val="082A5E"/>
                </a:solidFill>
              </a:rPr>
              <a:t>PLATAFORMA × EQUIPAMENTO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082A5E"/>
                </a:solidFill>
              </a:defRPr>
            </a:pPr>
            <a:r>
              <a:rPr sz="975" b="1">
                <a:solidFill>
                  <a:srgbClr val="082A5E"/>
                </a:solidFill>
              </a:rPr>
              <a:t>comparação antes de alterar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ca3ae3bde40e0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808f361c84ce1"/>
          <a:stretch xmlns:a="http://schemas.openxmlformats.org/drawingml/2006/main"/>
        </p:blipFill>
        <p:spPr>
          <a:xfrm xmlns:a="http://schemas.openxmlformats.org/drawingml/2006/main">
            <a:off x="381000" y="1622207"/>
            <a:ext cx="8096250" cy="45565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290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0617C6-51A0-4CEF-96B6-1395802D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ATUALIZAÇÕES E AUTOMAÇÕES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1BDE5-566E-424A-8195-01910D3B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A plataforma evolui sem virar uma caixa-preta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37366-5B6B-4964-9F7C-9AD4ABA7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B58FA-2A6E-491E-9AF5-661A39F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DBAFD-BB5A-48ED-84C4-53F7A782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1AC6C-5B60-41F2-B46E-F63F022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446B0-B7A7-4F36-9981-5946C15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6D6A8-F34F-4C23-958D-B9001CBB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7B8AA1"/>
                </a:solidFill>
              </a:defRPr>
            </a:pPr>
            <a:r>
              <a:rPr sz="675" b="1">
                <a:solidFill>
                  <a:srgbClr val="7B8AA1"/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F7FDC-B131-4C09-8EFB-8321D981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B8AA1"/>
                </a:solidFill>
              </a:defRPr>
            </a:pPr>
            <a:r>
              <a:rPr sz="750" b="1">
                <a:solidFill>
                  <a:srgbClr val="7B8AA1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44547-7970-449B-9AD8-25C1D04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7791450" cy="4371975"/>
          </a:xfrm>
          <a:prstGeom xmlns:a="http://schemas.openxmlformats.org/drawingml/2006/main" prst="roundRect">
            <a:avLst>
              <a:gd name="adj" fmla="val 3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897c6261c436c"/>
          <a:srcRect xmlns:a="http://schemas.openxmlformats.org/drawingml/2006/main" l="0" t="1200" r="0" b="1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8820" y="1723823"/>
            <a:ext cx="6120610" cy="336003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A20E4-1A28-4565-9013-AD7F605E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52675"/>
            <a:ext cx="1466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4579"/>
          </a:solidFill>
          <a:ln xmlns:a="http://schemas.openxmlformats.org/drawingml/2006/main" w="9525">
            <a:solidFill>
              <a:srgbClr val="91A8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7E8FC-3B4B-48C5-9C17-7A1238EE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F&amp;F ACCESS EM EVOLUÇÃO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56515-5516-4F68-8DBB-6647DFCB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458D8"/>
                </a:solidFill>
              </a:defRPr>
            </a:pPr>
            <a:r>
              <a:rPr sz="900" b="1">
                <a:solidFill>
                  <a:srgbClr val="2458D8"/>
                </a:solidFill>
              </a:rPr>
              <a:t>EVOLUÇÃO VISÍVEL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B0887-59F5-4623-ACA2-BC756C50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80B7E-709C-4306-9650-5925B406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38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DE6D8-9847-459E-832E-C0F164D1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431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Novidades explicadas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8DDBE-3CF9-45B4-9623-6AD6188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907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Mudanças apresentadas com linguagem clara para a equipe.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46AEA-85AE-4E2E-B9BC-8440C923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8313E-C546-4828-AB0D-4F295840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24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456DE-9694-4808-A98A-703D491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289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Automações rastreáveis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D22F7-D988-4A45-86BA-31440967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766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Execuções e resultados permanecem disponíveis para conferência.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9D0FE-0AC0-461D-BAE0-079790AC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78701-0ECE-4753-95A9-56CCF78B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0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58D8"/>
                </a:solidFill>
              </a:defRPr>
            </a:pPr>
            <a:r>
              <a:rPr sz="975" b="1">
                <a:solidFill>
                  <a:srgbClr val="2458D8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578CE-5A36-421D-831F-E08DA6E4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14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Comunicação consistente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200726-9A52-4895-ADEE-2A1B9180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624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37B"/>
                </a:solidFill>
              </a:defRPr>
            </a:pPr>
            <a:r>
              <a:rPr sz="1050">
                <a:solidFill>
                  <a:srgbClr val="52637B"/>
                </a:solidFill>
              </a:rPr>
              <a:t>Portal e aplicativo evoluem como uma experiência única.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D0C53-AAB0-4D19-A677-D99651EF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2838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BD8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B899F-6AC6-44BB-B507-B1AFB5BF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8165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82A5E"/>
                </a:solidFill>
              </a:defRPr>
            </a:pPr>
            <a:r>
              <a:rPr sz="900" b="1">
                <a:solidFill>
                  <a:srgbClr val="082A5E"/>
                </a:solidFill>
              </a:rPr>
              <a:t>CLAREZA • AGILIDADE • CONFIANÇA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7e4c0bad44443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58dbda9d94b50"/>
          <a:stretch xmlns:a="http://schemas.openxmlformats.org/drawingml/2006/main"/>
        </p:blipFill>
        <p:spPr>
          <a:xfrm xmlns:a="http://schemas.openxmlformats.org/drawingml/2006/main">
            <a:off x="381000" y="1469807"/>
            <a:ext cx="8096250" cy="45565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127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DAF288-E906-4EA3-A3FC-C9FF2B2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IMPACTO NA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1597C-CF41-4EB7-973A-CC2AAE00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033"/>
                </a:solidFill>
              </a:defRPr>
            </a:pPr>
            <a:r>
              <a:rPr sz="2850" b="1">
                <a:solidFill>
                  <a:srgbClr val="142033"/>
                </a:solidFill>
              </a:rPr>
              <a:t>Cada público recebe valor no ponto certo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DAF75-58E0-47B8-89EB-D34BABEC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8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92EE-A119-4956-8EE1-790493D2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9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5594A-8ACB-479B-A21A-4017312D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2A5E"/>
                </a:solidFill>
              </a:defRPr>
            </a:pPr>
            <a:r>
              <a:rPr sz="1500" b="1">
                <a:solidFill>
                  <a:srgbClr val="082A5E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88864-6C22-4F07-A77D-D6E131F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38765"/>
                </a:solidFill>
              </a:defRPr>
            </a:pPr>
            <a:r>
              <a:rPr sz="750" b="1">
                <a:solidFill>
                  <a:srgbClr val="138765"/>
                </a:solidFill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07444-273F-4C55-8D4E-88E1D27D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597A6-B42D-44C4-BD6B-0936F635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7B8AA1"/>
                </a:solidFill>
              </a:defRPr>
            </a:pPr>
            <a:r>
              <a:rPr sz="675" b="1">
                <a:solidFill>
                  <a:srgbClr val="7B8AA1"/>
                </a:solidFill>
              </a:rPr>
              <a:t>F&amp;F ACCESS  •  PLATAFORMA INTEGRADA DE CONTROLE DE ACESSO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6F416-BAC5-41F3-9DF7-34732A98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B8AA1"/>
                </a:solidFill>
              </a:defRPr>
            </a:pPr>
            <a:r>
              <a:rPr sz="750" b="1">
                <a:solidFill>
                  <a:srgbClr val="7B8AA1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B607A-2C6A-4865-A6DE-501F6475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37B"/>
                </a:solidFill>
              </a:defRPr>
            </a:pPr>
            <a:r>
              <a:rPr sz="1350">
                <a:solidFill>
                  <a:srgbClr val="52637B"/>
                </a:solidFill>
              </a:rPr>
              <a:t>A mesma plataforma muda de linguagem conforme a responsabilidade de quem está usando.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6806B-4AC5-46D5-B230-479356D9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5B69A-CFEC-4B82-88B2-55F1ADBF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458D8"/>
                </a:solidFill>
              </a:defRPr>
            </a:pPr>
            <a:r>
              <a:rPr sz="1050" b="1">
                <a:solidFill>
                  <a:srgbClr val="2458D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96140-5AAF-4AD0-A29B-0EAC50E0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033"/>
                </a:solidFill>
              </a:defRPr>
            </a:pPr>
            <a:r>
              <a:rPr sz="2175" b="1">
                <a:solidFill>
                  <a:srgbClr val="142033"/>
                </a:solidFill>
              </a:rPr>
              <a:t>Síndico e</a:t>
            </a:r>
          </a:p>
          <a:p xmlns:a="http://schemas.openxmlformats.org/drawingml/2006/main">
            <a:pPr>
              <a:buNone/>
              <a:defRPr sz="2175" b="1">
                <a:solidFill>
                  <a:srgbClr val="142033"/>
                </a:solidFill>
              </a:defRPr>
            </a:pPr>
            <a:r>
              <a:rPr sz="2175" b="1">
                <a:solidFill>
                  <a:srgbClr val="142033"/>
                </a:solidFill>
              </a:rPr>
              <a:t>administradora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8F04B-ABF1-415D-825A-857EF0FC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8D8"/>
          </a:solidFill>
          <a:ln xmlns:a="http://schemas.openxmlformats.org/drawingml/2006/main" w="9525">
            <a:solidFill>
              <a:srgbClr val="245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11D8E-AB78-4460-8C22-7811AFF6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62B29-4309-46DC-872B-5A37037B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Visibilidade da operação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95254-0A2A-423B-A67C-904AD871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0805F-AE92-4E66-B3AF-5CC52FC3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7D3BE-3EF6-4F9C-8293-96007049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Governança e auditoria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DCCE4-7382-47A0-9F38-1AC2E5E6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E1DFC-1A98-4071-B035-A532CDF3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458D8"/>
                </a:solidFill>
              </a:defRPr>
            </a:pPr>
            <a:r>
              <a:rPr sz="825" b="1">
                <a:solidFill>
                  <a:srgbClr val="2458D8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2B775-8051-4D69-975A-D4A7D35B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Continuidade e recuperação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6AEC9-0372-4B00-94AC-3320FADF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431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7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67A6C-C2D2-4424-B912-17B25260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240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38765"/>
                </a:solidFill>
              </a:defRPr>
            </a:pPr>
            <a:r>
              <a:rPr sz="1050" b="1">
                <a:solidFill>
                  <a:srgbClr val="138765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FAF19-9F28-4067-933C-43FED6D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033"/>
                </a:solidFill>
              </a:defRPr>
            </a:pPr>
            <a:r>
              <a:rPr sz="2175" b="1">
                <a:solidFill>
                  <a:srgbClr val="142033"/>
                </a:solidFill>
              </a:rPr>
              <a:t>Portaria e</a:t>
            </a:r>
          </a:p>
          <a:p xmlns:a="http://schemas.openxmlformats.org/drawingml/2006/main">
            <a:pPr>
              <a:buNone/>
              <a:defRPr sz="2175" b="1">
                <a:solidFill>
                  <a:srgbClr val="142033"/>
                </a:solidFill>
              </a:defRPr>
            </a:pPr>
            <a:r>
              <a:rPr sz="2175" b="1">
                <a:solidFill>
                  <a:srgbClr val="142033"/>
                </a:solidFill>
              </a:rPr>
              <a:t>equipe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7C099-376B-4335-A377-C95564A0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95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765"/>
          </a:solidFill>
          <a:ln xmlns:a="http://schemas.openxmlformats.org/drawingml/2006/main" w="9525">
            <a:solidFill>
              <a:srgbClr val="1387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74668-6C60-4BF7-B30E-FB0888D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D6683-4014-44BF-BA62-4EB5DF66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Decisão com contexto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B1F51-3D96-47C2-A945-096014A3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24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46AEF0-D672-4B82-A838-EC55EC7E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433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38765"/>
                </a:solidFill>
              </a:defRPr>
            </a:pPr>
            <a:r>
              <a:rPr sz="825" b="1">
                <a:solidFill>
                  <a:srgbClr val="138765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5B59D3-D6F4-4559-966D-9C34D456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052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Alertas e prioridades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BCE31-CF18-40FA-8550-55782C1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C0ACF9-D741-48E2-A33F-CDED0CAD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720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38765"/>
                </a:solidFill>
              </a:defRPr>
            </a:pPr>
            <a:r>
              <a:rPr sz="825" b="1">
                <a:solidFill>
                  <a:srgbClr val="138765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8A6C1E-131A-4186-86B2-FA341D09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Menos retrabalho diário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AEDCCD-AC8C-4806-BF20-CE9409C1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BFA46C-7930-4594-8FB4-7FFD7F6A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C943"/>
                </a:solidFill>
              </a:defRPr>
            </a:pPr>
            <a:r>
              <a:rPr sz="1050" b="1">
                <a:solidFill>
                  <a:srgbClr val="78C943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CCC6F0-21C5-4B8D-9E1B-2F3597A3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033"/>
                </a:solidFill>
              </a:defRPr>
            </a:pPr>
            <a:r>
              <a:rPr sz="2175" b="1">
                <a:solidFill>
                  <a:srgbClr val="142033"/>
                </a:solidFill>
              </a:rPr>
              <a:t>Morador e</a:t>
            </a:r>
          </a:p>
          <a:p xmlns:a="http://schemas.openxmlformats.org/drawingml/2006/main">
            <a:pPr>
              <a:buNone/>
              <a:defRPr sz="2175" b="1">
                <a:solidFill>
                  <a:srgbClr val="142033"/>
                </a:solidFill>
              </a:defRPr>
            </a:pPr>
            <a:r>
              <a:rPr sz="2175" b="1">
                <a:solidFill>
                  <a:srgbClr val="142033"/>
                </a:solidFill>
              </a:rPr>
              <a:t>visitante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47B2E5-422A-4E36-8921-07CC2310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9525">
            <a:solidFill>
              <a:srgbClr val="78C94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2DF695-A8B9-4D2E-B024-CE12DB8D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DFD94A-A8B2-4A2E-B889-7CE7E3E0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Autonomia no aplicativo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63B3D7-2CEB-46D0-8E36-1052488E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74319A-AB89-4D1B-AEFF-88959846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8C943"/>
                </a:solidFill>
              </a:defRPr>
            </a:pPr>
            <a:r>
              <a:rPr sz="825" b="1">
                <a:solidFill>
                  <a:srgbClr val="78C943"/>
                </a:solidFill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A3F726-BEE0-4EA9-9ACA-AC3ABCD5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052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Convites simples e seguros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CF7F87-7526-4DCB-B396-B40BF497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38C301-CE07-4595-9014-73D69D0C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8C943"/>
                </a:solidFill>
              </a:defRPr>
            </a:pPr>
            <a:r>
              <a:rPr sz="825" b="1">
                <a:solidFill>
                  <a:srgbClr val="78C943"/>
                </a:solidFill>
              </a:rPr>
              <a:t>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1106C7-B532-4A93-8812-B23F36CB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339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2637B"/>
                </a:solidFill>
              </a:defRPr>
            </a:pPr>
            <a:r>
              <a:rPr sz="1275" b="1">
                <a:solidFill>
                  <a:srgbClr val="52637B"/>
                </a:solidFill>
              </a:rPr>
              <a:t>Acesso fluido e temporário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E8EE75-3899-457B-8C7B-5956C8C0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864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2A5E"/>
                </a:solidFill>
              </a:defRPr>
            </a:pPr>
            <a:r>
              <a:rPr sz="1425" b="1">
                <a:solidFill>
                  <a:srgbClr val="082A5E"/>
                </a:solidFill>
              </a:rPr>
              <a:t>Uma operação mais previsível para todos — sem perder a flexibilidade de cada perfil.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4627e5dbb4ea6"/>
          <a:stretch xmlns:a="http://schemas.openxmlformats.org/drawingml/2006/main"/>
        </p:blipFill>
        <p:spPr>
          <a:xfrm xmlns:a="http://schemas.openxmlformats.org/drawingml/2006/main">
            <a:off x="10173703" y="276225"/>
            <a:ext cx="1236245" cy="5143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</p:spTree>
    <p:extLst>
      <p:ext uri="{BB962C8B-B14F-4D97-AF65-F5344CB8AC3E}">
        <p14:creationId xmlns:p14="http://schemas.microsoft.com/office/powerpoint/2010/main" val="13601502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169e8b103431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D73A1-2094-4BD6-9F07-0DF9233D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1A3D">
                  <a:alpha val="99000"/>
                </a:srgbClr>
              </a:gs>
              <a:gs pos="58000">
                <a:srgbClr val="082A5E">
                  <a:alpha val="93000"/>
                </a:srgbClr>
              </a:gs>
              <a:gs pos="100000">
                <a:srgbClr val="082A5E">
                  <a:alpha val="4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F3BA3-7E5C-4C7A-8093-929B063C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762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d694b46ad47b2"/>
          <a:stretch xmlns:a="http://schemas.openxmlformats.org/drawingml/2006/main"/>
        </p:blipFill>
        <p:spPr>
          <a:xfrm xmlns:a="http://schemas.openxmlformats.org/drawingml/2006/main">
            <a:off x="1457325" y="590550"/>
            <a:ext cx="1066800" cy="800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AF0BA-6B48-4241-9BA4-A0EC10F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800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3B930-FC80-4120-8920-5C137967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657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SEGURANÇA SIMPLES</a:t>
            </a:r>
          </a:p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DE OPERAR.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4B76-49D7-4593-A68A-8CAF7735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A7D92D"/>
                </a:solidFill>
              </a:defRPr>
            </a:pPr>
            <a:r>
              <a:rPr sz="2325">
                <a:solidFill>
                  <a:srgbClr val="A7D92D"/>
                </a:solidFill>
              </a:rPr>
              <a:t>Experiência fácil de usar.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67D8E-EA0E-4263-A63B-3BD4F80F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>
                    <a:alpha val="75000"/>
                  </a:srgbClr>
                </a:solidFill>
              </a:defRPr>
            </a:pPr>
            <a:r>
              <a:rPr sz="1350">
                <a:solidFill>
                  <a:srgbClr val="FFFFFF">
                    <a:alpha val="75000"/>
                  </a:srgbClr>
                </a:solidFill>
              </a:rPr>
              <a:t>Plataforma web  •  Aplicativo  •  Equipamentos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26675-A47F-491D-BA6E-3FCEDAB1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31813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C99C1-2A6D-4D2D-A7A7-85A3EBF4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2A5E"/>
                </a:solidFill>
              </a:defRPr>
            </a:pPr>
            <a:r>
              <a:rPr sz="1200" b="1">
                <a:solidFill>
                  <a:srgbClr val="082A5E"/>
                </a:solidFill>
              </a:rPr>
              <a:t>F&amp;F ACCESS</a:t>
            </a:r>
          </a:p>
        </p:txBody>
      </p:sp>
    </p:spTree>
    <p:extLst>
      <p:ext uri="{BB962C8B-B14F-4D97-AF65-F5344CB8AC3E}">
        <p14:creationId xmlns:p14="http://schemas.microsoft.com/office/powerpoint/2010/main" val="1806371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2026-08-10T20:05:17.6230000Z</dcterms:created>
  <dcterms:modified xsi:type="dcterms:W3CDTF">2026-08-10T20:05:17.6240000Z</dcterms:modified>
</coreProperties>
</file>